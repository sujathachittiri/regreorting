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5" r:id="rId11"/>
    <p:sldId id="266" r:id="rId12"/>
    <p:sldId id="267" r:id="rId13"/>
    <p:sldId id="268" r:id="rId14"/>
    <p:sldId id="271" r:id="rId15"/>
    <p:sldId id="278" r:id="rId16"/>
    <p:sldId id="272" r:id="rId17"/>
    <p:sldId id="279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7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dirty="0"/>
              <a:t>Intelligent Data Quality Monitoring using</a:t>
            </a:r>
          </a:p>
          <a:p>
            <a:r>
              <a:rPr dirty="0"/>
              <a:t>Machine Learning for Regulatory Reporting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2974529"/>
            <a:ext cx="7406640" cy="1752600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Sujatha Chittiri | BITS ID: 2023AC05729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M.Tech AI &amp; ML (WILP)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HSBC Global Technologies, Hyderabad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Research Area: Financial Risk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IN" b="1" dirty="0"/>
              <a:t>Why this project?</a:t>
            </a:r>
            <a:endParaRPr lang="en-US" b="1" dirty="0"/>
          </a:p>
          <a:p>
            <a:r>
              <a:rPr lang="en-US" dirty="0"/>
              <a:t>Regulatory reports are generated from </a:t>
            </a:r>
            <a:r>
              <a:rPr lang="en-US" b="1" dirty="0"/>
              <a:t>multiple upstream systems</a:t>
            </a:r>
            <a:endParaRPr lang="en-US" dirty="0"/>
          </a:p>
          <a:p>
            <a:r>
              <a:rPr lang="en-US" dirty="0"/>
              <a:t>Data quality issues cause:</a:t>
            </a:r>
          </a:p>
          <a:p>
            <a:pPr lvl="1"/>
            <a:r>
              <a:rPr lang="en-US" dirty="0"/>
              <a:t>Regulatory breaches</a:t>
            </a:r>
          </a:p>
          <a:p>
            <a:pPr lvl="1"/>
            <a:r>
              <a:rPr lang="en-US" dirty="0"/>
              <a:t>Reporting delays</a:t>
            </a:r>
          </a:p>
          <a:p>
            <a:pPr lvl="1"/>
            <a:r>
              <a:rPr lang="en-US" dirty="0"/>
              <a:t>Supervisory observations</a:t>
            </a:r>
          </a:p>
          <a:p>
            <a:r>
              <a:rPr lang="en-US" dirty="0"/>
              <a:t>Traditional </a:t>
            </a:r>
            <a:r>
              <a:rPr lang="en-US" b="1" dirty="0"/>
              <a:t>rule-based checks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Catch known issues</a:t>
            </a:r>
          </a:p>
          <a:p>
            <a:pPr lvl="1"/>
            <a:r>
              <a:rPr lang="en-US" dirty="0"/>
              <a:t>Fail to detect hidden or evolving anomalies</a:t>
            </a:r>
          </a:p>
          <a:p>
            <a:pPr marL="82296" indent="0">
              <a:buNone/>
            </a:pPr>
            <a:r>
              <a:rPr lang="en-US" dirty="0"/>
              <a:t>➡️ </a:t>
            </a:r>
            <a:r>
              <a:rPr lang="en-US" b="1" dirty="0"/>
              <a:t>Need:</a:t>
            </a:r>
            <a:r>
              <a:rPr lang="en-US" dirty="0"/>
              <a:t> An intelligent, proactive data quality monitoring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82296" indent="0">
              <a:buNone/>
            </a:pPr>
            <a:r>
              <a:rPr lang="en-US" b="1" dirty="0"/>
              <a:t>Key Objectives of the Dissertation</a:t>
            </a:r>
            <a:endParaRPr lang="en-US" dirty="0"/>
          </a:p>
          <a:p>
            <a:r>
              <a:rPr lang="en-US" dirty="0"/>
              <a:t>Design an intelligent data quality monitoring framework</a:t>
            </a:r>
          </a:p>
          <a:p>
            <a:r>
              <a:rPr lang="en-US" dirty="0"/>
              <a:t>Combine:</a:t>
            </a:r>
          </a:p>
          <a:p>
            <a:pPr lvl="1"/>
            <a:r>
              <a:rPr lang="en-US" dirty="0"/>
              <a:t>Rule-based validations</a:t>
            </a:r>
          </a:p>
          <a:p>
            <a:pPr lvl="1"/>
            <a:r>
              <a:rPr lang="en-US" dirty="0"/>
              <a:t>Machine learning–based anomaly detection</a:t>
            </a:r>
          </a:p>
          <a:p>
            <a:r>
              <a:rPr lang="en-US" dirty="0"/>
              <a:t>Ensure:</a:t>
            </a:r>
          </a:p>
          <a:p>
            <a:pPr lvl="1"/>
            <a:r>
              <a:rPr lang="en-US" dirty="0"/>
              <a:t>Explainability</a:t>
            </a:r>
          </a:p>
          <a:p>
            <a:pPr lvl="1"/>
            <a:r>
              <a:rPr lang="en-US" dirty="0"/>
              <a:t>Regulatory defensibility</a:t>
            </a:r>
          </a:p>
          <a:p>
            <a:r>
              <a:rPr lang="en-US" dirty="0"/>
              <a:t>Provide operational visibility through a dashboard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rPr lang="en-IN" dirty="0"/>
              <a:t>	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3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Overall Solution Approach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IN" sz="2700" b="1" dirty="0"/>
              <a:t>High-Level Approach</a:t>
            </a:r>
            <a:endParaRPr lang="en-IN" sz="2700" dirty="0"/>
          </a:p>
          <a:p>
            <a:r>
              <a:rPr lang="en-IN" sz="2700" dirty="0"/>
              <a:t>Deterministic rules handle </a:t>
            </a:r>
            <a:r>
              <a:rPr lang="en-IN" sz="2700" b="1" dirty="0"/>
              <a:t>explicit violations</a:t>
            </a:r>
            <a:endParaRPr lang="en-IN" sz="2700" dirty="0"/>
          </a:p>
          <a:p>
            <a:r>
              <a:rPr lang="en-IN" sz="2700" dirty="0"/>
              <a:t>ML models detect </a:t>
            </a:r>
            <a:r>
              <a:rPr lang="en-IN" sz="2700" b="1" dirty="0"/>
              <a:t>hidden anomalies</a:t>
            </a:r>
            <a:endParaRPr lang="en-IN" sz="2700" dirty="0"/>
          </a:p>
          <a:p>
            <a:r>
              <a:rPr lang="en-IN" sz="2700" dirty="0"/>
              <a:t>Outputs are combined into a </a:t>
            </a:r>
            <a:r>
              <a:rPr lang="en-IN" sz="2700" b="1" dirty="0"/>
              <a:t>unified anomaly decision</a:t>
            </a:r>
            <a:endParaRPr lang="en-IN" sz="2700" dirty="0"/>
          </a:p>
          <a:p>
            <a:r>
              <a:rPr lang="en-IN" sz="2700" dirty="0"/>
              <a:t>Results are visualized for monitoring and investigation</a:t>
            </a:r>
          </a:p>
          <a:p>
            <a:pPr marL="82296" indent="0">
              <a:buNone/>
            </a:pPr>
            <a:r>
              <a:rPr lang="en-IN" sz="2700" dirty="0"/>
              <a:t>➡️ Hybrid = </a:t>
            </a:r>
            <a:r>
              <a:rPr lang="en-IN" sz="2700" b="1" dirty="0"/>
              <a:t>Accuracy + Explainability</a:t>
            </a:r>
            <a:endParaRPr lang="en-IN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 /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IN" sz="2700" b="1" dirty="0"/>
              <a:t>Pipeline Flow:</a:t>
            </a:r>
            <a:endParaRPr lang="en-US" sz="2700" b="1" dirty="0"/>
          </a:p>
          <a:p>
            <a:r>
              <a:rPr lang="en-US" sz="2700" dirty="0"/>
              <a:t>Regulatory-style data ingestion</a:t>
            </a:r>
          </a:p>
          <a:p>
            <a:r>
              <a:rPr lang="en-US" sz="2700" dirty="0"/>
              <a:t>Rule-based data quality engine</a:t>
            </a:r>
          </a:p>
          <a:p>
            <a:r>
              <a:rPr lang="en-US" sz="2700" dirty="0"/>
              <a:t>ML anomaly detection (unsupervised)</a:t>
            </a:r>
          </a:p>
          <a:p>
            <a:r>
              <a:rPr lang="en-US" sz="2700" dirty="0"/>
              <a:t>Unified anomaly scoring</a:t>
            </a:r>
          </a:p>
          <a:p>
            <a:r>
              <a:rPr lang="en-US" sz="2700" dirty="0"/>
              <a:t>Dashboard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3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Solution Architecture</a:t>
            </a:r>
            <a:endParaRPr dirty="0"/>
          </a:p>
        </p:txBody>
      </p:sp>
      <p:pic>
        <p:nvPicPr>
          <p:cNvPr id="3" name="Picture 2" descr="A_flowchart_diagram_in_digital_2D_illustration_s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193" y="1417320"/>
            <a:ext cx="6571570" cy="54952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3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Rule Based Data Quality Engine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US" b="1" dirty="0"/>
              <a:t>What rules are implemented?</a:t>
            </a:r>
            <a:endParaRPr lang="en-US" dirty="0"/>
          </a:p>
          <a:p>
            <a:r>
              <a:rPr lang="en-US" dirty="0"/>
              <a:t>Missing mandatory fields</a:t>
            </a:r>
          </a:p>
          <a:p>
            <a:r>
              <a:rPr lang="en-US" dirty="0"/>
              <a:t>Invalid country / currency codes</a:t>
            </a:r>
          </a:p>
          <a:p>
            <a:r>
              <a:rPr lang="en-US" dirty="0"/>
              <a:t>Negative exposure values</a:t>
            </a:r>
          </a:p>
          <a:p>
            <a:r>
              <a:rPr lang="en-US" dirty="0"/>
              <a:t>Risk-weight boundary violations</a:t>
            </a:r>
          </a:p>
          <a:p>
            <a:r>
              <a:rPr lang="en-US" dirty="0"/>
              <a:t>Duplicate records</a:t>
            </a:r>
          </a:p>
          <a:p>
            <a:r>
              <a:rPr lang="en-US" dirty="0"/>
              <a:t>Statistical outliers</a:t>
            </a:r>
          </a:p>
          <a:p>
            <a:pPr marL="82296" indent="0">
              <a:buNone/>
            </a:pPr>
            <a:r>
              <a:rPr lang="en-US" dirty="0"/>
              <a:t>Each rule produces:</a:t>
            </a:r>
          </a:p>
          <a:p>
            <a:r>
              <a:rPr lang="en-US" dirty="0"/>
              <a:t>Individual violation flags</a:t>
            </a:r>
          </a:p>
          <a:p>
            <a:r>
              <a:rPr lang="en-US" dirty="0"/>
              <a:t>A cumulative </a:t>
            </a:r>
            <a:r>
              <a:rPr lang="en-US" b="1" dirty="0"/>
              <a:t>DQ Rule Score</a:t>
            </a:r>
            <a:endParaRPr lang="en-US" dirty="0"/>
          </a:p>
          <a:p>
            <a:pPr marL="82296" indent="0">
              <a:buNone/>
            </a:pPr>
            <a:r>
              <a:rPr lang="en-US" dirty="0"/>
              <a:t>➡️ </a:t>
            </a:r>
            <a:r>
              <a:rPr lang="en-US" b="1" dirty="0"/>
              <a:t>Fully explainable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0531" y="274638"/>
            <a:ext cx="7753157" cy="1143000"/>
          </a:xfrm>
        </p:spPr>
        <p:txBody>
          <a:bodyPr>
            <a:normAutofit fontScale="90000"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43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Machine Learning Models Considered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700" b="1" dirty="0"/>
              <a:t>Models Evaluated</a:t>
            </a:r>
            <a:endParaRPr lang="en-US" sz="2700" dirty="0"/>
          </a:p>
          <a:p>
            <a:r>
              <a:rPr lang="en-US" sz="2700" dirty="0"/>
              <a:t>Isolation Forest</a:t>
            </a:r>
          </a:p>
          <a:p>
            <a:r>
              <a:rPr lang="en-US" sz="2700" dirty="0"/>
              <a:t>Local Outlier Factor (LOF)</a:t>
            </a:r>
          </a:p>
          <a:p>
            <a:r>
              <a:rPr lang="en-US" sz="2700" dirty="0"/>
              <a:t>One-Class SVM</a:t>
            </a:r>
          </a:p>
          <a:p>
            <a:r>
              <a:rPr lang="en-US" sz="2700" dirty="0"/>
              <a:t>Autoencoder</a:t>
            </a:r>
          </a:p>
          <a:p>
            <a:pPr marL="82296" indent="0">
              <a:buNone/>
            </a:pPr>
            <a:r>
              <a:rPr lang="en-US" sz="2700" b="1" dirty="0"/>
              <a:t>Why unsupervised?</a:t>
            </a:r>
            <a:endParaRPr lang="en-US" sz="2700" dirty="0"/>
          </a:p>
          <a:p>
            <a:r>
              <a:rPr lang="en-US" sz="2700" dirty="0"/>
              <a:t>Regulatory data has </a:t>
            </a:r>
            <a:r>
              <a:rPr lang="en-US" sz="2700" b="1" dirty="0"/>
              <a:t>limited labeled anomalies</a:t>
            </a:r>
            <a:endParaRPr lang="en-US" sz="2700" dirty="0"/>
          </a:p>
          <a:p>
            <a:r>
              <a:rPr lang="en-US" sz="2700" dirty="0"/>
              <a:t>Models must learn normal </a:t>
            </a:r>
            <a:r>
              <a:rPr lang="en-US" sz="2700" dirty="0" err="1"/>
              <a:t>behaviour</a:t>
            </a:r>
            <a:r>
              <a:rPr lang="en-US" sz="2700" dirty="0"/>
              <a:t>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8F98E-C3D2-0E73-8F90-14124BB5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B369-EB14-F812-16BA-2FF5CAC2E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39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Model Comparison Results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5AEBF-7D73-045B-9DEC-7E6411970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IN" sz="2000" b="1" dirty="0"/>
              <a:t>Evaluation Metrics</a:t>
            </a:r>
            <a:endParaRPr lang="en-IN" sz="2000" dirty="0"/>
          </a:p>
          <a:p>
            <a:r>
              <a:rPr lang="en-IN" sz="2000" dirty="0"/>
              <a:t>ROC-AUC</a:t>
            </a:r>
          </a:p>
          <a:p>
            <a:r>
              <a:rPr lang="en-IN" sz="2000" dirty="0"/>
              <a:t>Precision at top anomaly percentiles</a:t>
            </a:r>
          </a:p>
          <a:p>
            <a:pPr marL="82296" indent="0">
              <a:buNone/>
            </a:pPr>
            <a:r>
              <a:rPr lang="en-IN" sz="2000" b="1" dirty="0"/>
              <a:t>Key Observations</a:t>
            </a:r>
            <a:endParaRPr lang="en-IN" sz="2000" dirty="0"/>
          </a:p>
          <a:p>
            <a:r>
              <a:rPr lang="en-IN" sz="2000" dirty="0"/>
              <a:t>Autoencoder → best non-linear anomaly detection</a:t>
            </a:r>
          </a:p>
          <a:p>
            <a:r>
              <a:rPr lang="en-IN" sz="2000" dirty="0"/>
              <a:t>LOF → scalability limitations</a:t>
            </a:r>
          </a:p>
          <a:p>
            <a:r>
              <a:rPr lang="en-IN" sz="2000" dirty="0"/>
              <a:t>OCSVM → sensitive to hyperparameters</a:t>
            </a:r>
          </a:p>
          <a:p>
            <a:r>
              <a:rPr lang="en-IN" sz="2000" dirty="0"/>
              <a:t>Isolation Forest → scalable and explainable</a:t>
            </a:r>
          </a:p>
          <a:p>
            <a:endParaRPr lang="en-IN" dirty="0"/>
          </a:p>
        </p:txBody>
      </p:sp>
      <p:pic>
        <p:nvPicPr>
          <p:cNvPr id="5" name="Picture 4" descr="A black background with numbers&#10;&#10;AI-generated content may be incorrect.">
            <a:extLst>
              <a:ext uri="{FF2B5EF4-FFF2-40B4-BE49-F238E27FC236}">
                <a16:creationId xmlns:a16="http://schemas.microsoft.com/office/drawing/2014/main" id="{BC8F00D9-6B54-2452-0567-D1C3B4728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777" y="4790363"/>
            <a:ext cx="5261724" cy="155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089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39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Why Isolation Forest + Autoencoder?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082654"/>
          </a:xfrm>
        </p:spPr>
        <p:txBody>
          <a:bodyPr>
            <a:noAutofit/>
          </a:bodyPr>
          <a:lstStyle/>
          <a:p>
            <a:pPr marL="82296" indent="0">
              <a:buNone/>
            </a:pPr>
            <a:r>
              <a:rPr lang="en-IN" sz="2700" b="1" dirty="0"/>
              <a:t>Final Model Selection Justification</a:t>
            </a:r>
            <a:endParaRPr lang="en-IN" sz="2700" dirty="0"/>
          </a:p>
          <a:p>
            <a:r>
              <a:rPr lang="en-IN" sz="2700" dirty="0"/>
              <a:t>Autoencoder:</a:t>
            </a:r>
          </a:p>
          <a:p>
            <a:pPr lvl="1"/>
            <a:r>
              <a:rPr lang="en-IN" sz="2400" dirty="0"/>
              <a:t>Captures complex non-linear patterns</a:t>
            </a:r>
          </a:p>
          <a:p>
            <a:r>
              <a:rPr lang="en-IN" sz="2700" dirty="0"/>
              <a:t>Isolation Forest:</a:t>
            </a:r>
          </a:p>
          <a:p>
            <a:pPr lvl="1"/>
            <a:r>
              <a:rPr lang="en-IN" sz="2400" dirty="0"/>
              <a:t>Scales well to large datasets</a:t>
            </a:r>
          </a:p>
          <a:p>
            <a:pPr lvl="1"/>
            <a:r>
              <a:rPr lang="en-IN" sz="2400" dirty="0"/>
              <a:t>Supports explainability (SHAP-compatible)</a:t>
            </a:r>
          </a:p>
          <a:p>
            <a:r>
              <a:rPr lang="en-IN" sz="2700" dirty="0"/>
              <a:t>Hybrid approach balances:</a:t>
            </a:r>
          </a:p>
          <a:p>
            <a:pPr lvl="1"/>
            <a:r>
              <a:rPr lang="en-IN" sz="2400" dirty="0"/>
              <a:t>Detection performance</a:t>
            </a:r>
          </a:p>
          <a:p>
            <a:pPr lvl="1"/>
            <a:r>
              <a:rPr lang="en-IN" sz="2400" dirty="0"/>
              <a:t>Regulatory explainability</a:t>
            </a:r>
          </a:p>
          <a:p>
            <a:pPr marL="82296" indent="0">
              <a:buNone/>
            </a:pPr>
            <a:r>
              <a:rPr lang="en-IN" sz="2700" dirty="0"/>
              <a:t>➡️ </a:t>
            </a:r>
            <a:r>
              <a:rPr lang="en-IN" sz="2400" b="1" dirty="0"/>
              <a:t>ROC-AUC alone is not sufficient for regulatory systems</a:t>
            </a:r>
            <a:endParaRPr lang="en-IN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35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Unified Anomaly Scoring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700" b="1" dirty="0"/>
              <a:t>How final decision is made</a:t>
            </a:r>
            <a:endParaRPr lang="en-US" sz="2700" dirty="0"/>
          </a:p>
          <a:p>
            <a:pPr marL="82296" indent="0">
              <a:buNone/>
            </a:pPr>
            <a:r>
              <a:rPr lang="en-US" sz="2700" dirty="0"/>
              <a:t>  Final Anomaly Flag =</a:t>
            </a:r>
          </a:p>
          <a:p>
            <a:pPr marL="82296" indent="0">
              <a:buNone/>
            </a:pPr>
            <a:r>
              <a:rPr lang="en-US" sz="2700" dirty="0"/>
              <a:t>   Rule Violation</a:t>
            </a:r>
          </a:p>
          <a:p>
            <a:pPr marL="82296" indent="0">
              <a:buNone/>
            </a:pPr>
            <a:r>
              <a:rPr lang="en-US" sz="2700" dirty="0"/>
              <a:t>  OR</a:t>
            </a:r>
          </a:p>
          <a:p>
            <a:pPr marL="82296" indent="0">
              <a:buNone/>
            </a:pPr>
            <a:r>
              <a:rPr lang="en-US" sz="2700" dirty="0"/>
              <a:t>  ML Anomaly Score &gt; Threshold</a:t>
            </a:r>
          </a:p>
          <a:p>
            <a:r>
              <a:rPr lang="en-US" sz="2700" dirty="0"/>
              <a:t>Rule violations = </a:t>
            </a:r>
            <a:r>
              <a:rPr lang="en-US" sz="2700" b="1" dirty="0"/>
              <a:t>hard regulatory breaches</a:t>
            </a:r>
            <a:endParaRPr lang="en-US" sz="2700" dirty="0"/>
          </a:p>
          <a:p>
            <a:r>
              <a:rPr lang="en-US" sz="2700" dirty="0"/>
              <a:t>ML anomalies = </a:t>
            </a:r>
            <a:r>
              <a:rPr lang="en-US" sz="2700" b="1" dirty="0"/>
              <a:t>soft / hidden issues</a:t>
            </a:r>
            <a:endParaRPr lang="en-US" sz="2700" dirty="0"/>
          </a:p>
          <a:p>
            <a:pPr marL="82296" indent="0">
              <a:buNone/>
            </a:pPr>
            <a:r>
              <a:rPr lang="en-US" sz="2700" dirty="0"/>
              <a:t>➡️ Zero false negatives for deterministic violations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35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Explainability in the Project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700" b="1" dirty="0"/>
              <a:t>How decisions are explainable</a:t>
            </a:r>
            <a:endParaRPr lang="en-US" sz="2700" dirty="0"/>
          </a:p>
          <a:p>
            <a:r>
              <a:rPr lang="en-US" sz="2700" dirty="0"/>
              <a:t>Rule-level explanations:</a:t>
            </a:r>
          </a:p>
          <a:p>
            <a:pPr lvl="1"/>
            <a:r>
              <a:rPr lang="en-US" sz="2700" dirty="0"/>
              <a:t>Exact rule causing the issue is known</a:t>
            </a:r>
          </a:p>
          <a:p>
            <a:r>
              <a:rPr lang="en-US" sz="2700" dirty="0"/>
              <a:t>ML-level explanations:</a:t>
            </a:r>
          </a:p>
          <a:p>
            <a:pPr lvl="1"/>
            <a:r>
              <a:rPr lang="en-US" sz="2700" dirty="0"/>
              <a:t>Anomaly score indicates deviation from normal patterns</a:t>
            </a:r>
          </a:p>
          <a:p>
            <a:r>
              <a:rPr lang="en-US" sz="2700" dirty="0"/>
              <a:t>Decision-level transparency:</a:t>
            </a:r>
          </a:p>
          <a:p>
            <a:pPr lvl="1"/>
            <a:r>
              <a:rPr lang="en-US" sz="2700" dirty="0"/>
              <a:t>Clear OR logic between rules and ML</a:t>
            </a:r>
          </a:p>
          <a:p>
            <a:pPr marL="82296" indent="0">
              <a:buNone/>
            </a:pPr>
            <a:r>
              <a:rPr lang="en-US" sz="2700" b="1" dirty="0"/>
              <a:t>SHAP integration planned in final phase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35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Regulatory Thresholds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IN" b="1" dirty="0"/>
              <a:t>How thresholds are defined</a:t>
            </a:r>
            <a:endParaRPr lang="en-IN" dirty="0"/>
          </a:p>
          <a:p>
            <a:r>
              <a:rPr lang="en-IN" dirty="0"/>
              <a:t>Regulators (PRA / ECB / EBA) do </a:t>
            </a:r>
            <a:r>
              <a:rPr lang="en-IN" b="1" dirty="0"/>
              <a:t>not prescribe fixed percentages</a:t>
            </a:r>
            <a:endParaRPr lang="en-IN" dirty="0"/>
          </a:p>
          <a:p>
            <a:r>
              <a:rPr lang="en-IN" dirty="0"/>
              <a:t>Institutions define internal thresholds aligned with:</a:t>
            </a:r>
          </a:p>
          <a:p>
            <a:pPr lvl="1"/>
            <a:r>
              <a:rPr lang="en-IN" dirty="0"/>
              <a:t>Risk appetite</a:t>
            </a:r>
          </a:p>
          <a:p>
            <a:pPr lvl="1"/>
            <a:r>
              <a:rPr lang="en-IN" dirty="0"/>
              <a:t>Materiality</a:t>
            </a:r>
          </a:p>
          <a:p>
            <a:pPr marL="82296" indent="0">
              <a:buNone/>
            </a:pPr>
            <a:r>
              <a:rPr lang="en-IN" b="1" dirty="0"/>
              <a:t>Proxy thresholds used</a:t>
            </a:r>
            <a:endParaRPr lang="en-IN" dirty="0"/>
          </a:p>
          <a:p>
            <a:r>
              <a:rPr lang="en-IN" dirty="0"/>
              <a:t>Completeness issues: &lt; 1–2%</a:t>
            </a:r>
          </a:p>
          <a:p>
            <a:r>
              <a:rPr lang="en-IN" dirty="0"/>
              <a:t>Invalid reference data: &lt; 0.5%</a:t>
            </a:r>
          </a:p>
          <a:p>
            <a:r>
              <a:rPr lang="en-IN" dirty="0"/>
              <a:t>Duplicates: 0% tolerance</a:t>
            </a:r>
          </a:p>
          <a:p>
            <a:r>
              <a:rPr lang="en-IN" dirty="0"/>
              <a:t>Overall anomaly rate: &lt; 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DD87B-BAF3-2D88-44C9-0FF45D57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4E32-0D17-093F-FBB5-3B41A9D99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35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Dashboard Overview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4F7DD-14C8-0CE5-BC38-2CF3C2C4A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700" b="1" dirty="0"/>
              <a:t>Dashboard provides:</a:t>
            </a:r>
          </a:p>
          <a:p>
            <a:r>
              <a:rPr lang="en-US" sz="2700" dirty="0"/>
              <a:t>Total records vs anomalies</a:t>
            </a:r>
          </a:p>
          <a:p>
            <a:r>
              <a:rPr lang="en-US" sz="2700" dirty="0"/>
              <a:t>Rule vs ML anomaly split</a:t>
            </a:r>
          </a:p>
          <a:p>
            <a:r>
              <a:rPr lang="en-US" sz="2700" dirty="0"/>
              <a:t>Time-based anomaly trends</a:t>
            </a:r>
          </a:p>
          <a:p>
            <a:r>
              <a:rPr lang="en-US" sz="2700" dirty="0"/>
              <a:t>Severity-based prioritization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220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91D1-1799-1294-09E8-328BE0ECF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A screenshot of a black background&#10;&#10;AI-generated content may be incorrect.">
            <a:extLst>
              <a:ext uri="{FF2B5EF4-FFF2-40B4-BE49-F238E27FC236}">
                <a16:creationId xmlns:a16="http://schemas.microsoft.com/office/drawing/2014/main" id="{A2C6BFF9-9821-7F58-5F30-F5205F075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2270" y="76467"/>
            <a:ext cx="7499350" cy="1895634"/>
          </a:xfrm>
          <a:prstGeom prst="rect">
            <a:avLst/>
          </a:prstGeom>
        </p:spPr>
      </p:pic>
      <p:pic>
        <p:nvPicPr>
          <p:cNvPr id="12" name="Picture 11" descr="A graph with blue lines&#10;&#10;AI-generated content may be incorrect.">
            <a:extLst>
              <a:ext uri="{FF2B5EF4-FFF2-40B4-BE49-F238E27FC236}">
                <a16:creationId xmlns:a16="http://schemas.microsoft.com/office/drawing/2014/main" id="{162BDF2D-A4D5-0B0C-BAFF-E32F7FF3B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270" y="2064620"/>
            <a:ext cx="7499350" cy="2346623"/>
          </a:xfrm>
          <a:prstGeom prst="rect">
            <a:avLst/>
          </a:prstGeom>
        </p:spPr>
      </p:pic>
      <p:pic>
        <p:nvPicPr>
          <p:cNvPr id="14" name="Picture 1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1D30FB1-74E9-701A-630C-DE0273454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271" y="4503762"/>
            <a:ext cx="7499350" cy="227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78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C9322-947A-24A8-63F9-7FAFA82A9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17434-E73F-A6DA-968F-E312B960C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35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Dashboard Drilldown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1FE4C-2458-A219-8C52-41E19C869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700" b="1" dirty="0"/>
              <a:t>For each flagged record:</a:t>
            </a:r>
          </a:p>
          <a:p>
            <a:r>
              <a:rPr lang="en-US" sz="2700" dirty="0"/>
              <a:t>Rule score</a:t>
            </a:r>
          </a:p>
          <a:p>
            <a:r>
              <a:rPr lang="en-US" sz="2700" dirty="0"/>
              <a:t>ML anomaly score</a:t>
            </a:r>
          </a:p>
          <a:p>
            <a:r>
              <a:rPr lang="en-US" sz="2700" dirty="0"/>
              <a:t>Final anomaly flag</a:t>
            </a:r>
          </a:p>
          <a:p>
            <a:r>
              <a:rPr lang="en-US" sz="2700" dirty="0"/>
              <a:t>Severity ranking</a:t>
            </a:r>
          </a:p>
          <a:p>
            <a:pPr marL="82296" indent="0">
              <a:buNone/>
            </a:pPr>
            <a:r>
              <a:rPr lang="en-US" sz="2700" dirty="0"/>
              <a:t>➡️ Enables investigation and root-cause analysis</a:t>
            </a:r>
          </a:p>
        </p:txBody>
      </p:sp>
    </p:spTree>
    <p:extLst>
      <p:ext uri="{BB962C8B-B14F-4D97-AF65-F5344CB8AC3E}">
        <p14:creationId xmlns:p14="http://schemas.microsoft.com/office/powerpoint/2010/main" val="1462953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AECF6-6D84-665E-D354-02FE78B7B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09A056-3F6C-8094-8286-78D3C7D46E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5100" y="1276635"/>
            <a:ext cx="7499350" cy="389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031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17816-628A-9521-1C7B-7ECD79ADE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72504-B661-2BD5-5702-37792A6C2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35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Work Completed Till Mid-Sem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D6CD5-6603-CB7D-7427-7B5DFE9F1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IN" sz="2700" b="1" dirty="0"/>
              <a:t>Completed Milestones</a:t>
            </a:r>
            <a:endParaRPr lang="en-IN" sz="2700" dirty="0"/>
          </a:p>
          <a:p>
            <a:r>
              <a:rPr lang="en-IN" sz="2700" dirty="0"/>
              <a:t>Data generation &amp; profiling</a:t>
            </a:r>
          </a:p>
          <a:p>
            <a:r>
              <a:rPr lang="en-IN" sz="2700" dirty="0"/>
              <a:t>Rule-based DQ engine</a:t>
            </a:r>
          </a:p>
          <a:p>
            <a:r>
              <a:rPr lang="en-IN" sz="2700" dirty="0"/>
              <a:t>ML model comparison</a:t>
            </a:r>
          </a:p>
          <a:p>
            <a:r>
              <a:rPr lang="en-IN" sz="2700" dirty="0"/>
              <a:t>Model justification</a:t>
            </a:r>
          </a:p>
          <a:p>
            <a:r>
              <a:rPr lang="en-IN" sz="2700" dirty="0"/>
              <a:t>Unified scoring logic</a:t>
            </a:r>
          </a:p>
          <a:p>
            <a:r>
              <a:rPr lang="en-IN" sz="2700" dirty="0"/>
              <a:t>Dashboard prototype</a:t>
            </a:r>
          </a:p>
          <a:p>
            <a:r>
              <a:rPr lang="en-IN" sz="2700" dirty="0"/>
              <a:t>Git-based project structure</a:t>
            </a:r>
          </a:p>
        </p:txBody>
      </p:sp>
    </p:spTree>
    <p:extLst>
      <p:ext uri="{BB962C8B-B14F-4D97-AF65-F5344CB8AC3E}">
        <p14:creationId xmlns:p14="http://schemas.microsoft.com/office/powerpoint/2010/main" val="3494744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57D7B-CBC2-3933-B37A-3B78D0F5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AED0-AE0A-8720-E783-64FFF2F85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35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Challenges Faced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5DF43-BA4B-06ED-5EF3-FE63F6F7D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IN" sz="2700" b="1" dirty="0"/>
              <a:t>Key Challenges</a:t>
            </a:r>
            <a:endParaRPr lang="en-IN" sz="2700" dirty="0"/>
          </a:p>
          <a:p>
            <a:r>
              <a:rPr lang="en-IN" sz="2700" dirty="0"/>
              <a:t>Defining realistic regulatory thresholds</a:t>
            </a:r>
          </a:p>
          <a:p>
            <a:r>
              <a:rPr lang="en-IN" sz="2700" dirty="0"/>
              <a:t>Lack of </a:t>
            </a:r>
            <a:r>
              <a:rPr lang="en-IN" sz="2700" dirty="0" err="1"/>
              <a:t>labeled</a:t>
            </a:r>
            <a:r>
              <a:rPr lang="en-IN" sz="2700" dirty="0"/>
              <a:t> anomaly data</a:t>
            </a:r>
          </a:p>
          <a:p>
            <a:r>
              <a:rPr lang="en-IN" sz="2700" dirty="0"/>
              <a:t>Balancing explainability vs accuracy</a:t>
            </a:r>
          </a:p>
          <a:p>
            <a:r>
              <a:rPr lang="en-IN" sz="2700" dirty="0"/>
              <a:t>Dashboard performance in cloud environments</a:t>
            </a:r>
          </a:p>
          <a:p>
            <a:pPr marL="82296" indent="0">
              <a:buNone/>
            </a:pPr>
            <a:r>
              <a:rPr lang="en-IN" sz="2700" b="1" dirty="0"/>
              <a:t>Mitigation</a:t>
            </a:r>
            <a:endParaRPr lang="en-IN" sz="2700" dirty="0"/>
          </a:p>
          <a:p>
            <a:r>
              <a:rPr lang="en-IN" sz="2700" dirty="0"/>
              <a:t>Configuration-driven thresholds</a:t>
            </a:r>
          </a:p>
          <a:p>
            <a:r>
              <a:rPr lang="en-IN" sz="2700" dirty="0"/>
              <a:t>Unsupervised learning</a:t>
            </a:r>
          </a:p>
          <a:p>
            <a:r>
              <a:rPr lang="en-IN" sz="2700" dirty="0"/>
              <a:t>Hybrid detection approach</a:t>
            </a:r>
          </a:p>
        </p:txBody>
      </p:sp>
    </p:spTree>
    <p:extLst>
      <p:ext uri="{BB962C8B-B14F-4D97-AF65-F5344CB8AC3E}">
        <p14:creationId xmlns:p14="http://schemas.microsoft.com/office/powerpoint/2010/main" val="3498572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9B676-D3D3-93BB-B7F7-BF59067EA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5B117-AD69-7665-9827-1B640A852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35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Roadmap for Final Submission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FE42B-FF42-D6FE-3893-7DC54FFFF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700" b="1" dirty="0"/>
              <a:t>Planned Enhancements</a:t>
            </a:r>
            <a:endParaRPr lang="en-US" sz="2700" dirty="0"/>
          </a:p>
          <a:p>
            <a:r>
              <a:rPr lang="en-US" sz="2700" dirty="0"/>
              <a:t>SHAP-based feature-level explainability</a:t>
            </a:r>
          </a:p>
          <a:p>
            <a:r>
              <a:rPr lang="en-US" sz="2700" dirty="0"/>
              <a:t>Model tuning and sensitivity analysis</a:t>
            </a:r>
          </a:p>
          <a:p>
            <a:r>
              <a:rPr lang="en-US" sz="2700" dirty="0"/>
              <a:t>Drift detection</a:t>
            </a:r>
          </a:p>
          <a:p>
            <a:r>
              <a:rPr lang="en-US" sz="2700" dirty="0"/>
              <a:t>Enhanced dashboard interactivity</a:t>
            </a:r>
          </a:p>
          <a:p>
            <a:r>
              <a:rPr lang="en-US" sz="2700" dirty="0"/>
              <a:t>Final dissertation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178552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5D5AC-0D4C-7E64-9CC4-6A030C4D4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32A0-D11E-F351-BF85-7763DA79F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35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Conclusion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D79C8-49B4-955D-AD42-7A90F2751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700" b="1" dirty="0"/>
              <a:t>Summary</a:t>
            </a:r>
            <a:endParaRPr lang="en-US" sz="2700" dirty="0"/>
          </a:p>
          <a:p>
            <a:r>
              <a:rPr lang="en-US" sz="2700" dirty="0"/>
              <a:t>Proposed an intelligent, explainable data quality framework</a:t>
            </a:r>
          </a:p>
          <a:p>
            <a:r>
              <a:rPr lang="en-US" sz="2700" dirty="0"/>
              <a:t>Combined rule-based and ML-based detection</a:t>
            </a:r>
          </a:p>
          <a:p>
            <a:r>
              <a:rPr lang="en-US" sz="2700" dirty="0"/>
              <a:t>Achieved proactive anomaly identification</a:t>
            </a:r>
          </a:p>
          <a:p>
            <a:r>
              <a:rPr lang="en-US" sz="2700" dirty="0"/>
              <a:t>Aligned with regulatory expectations</a:t>
            </a:r>
          </a:p>
          <a:p>
            <a:pPr marL="82296" indent="0">
              <a:buNone/>
            </a:pPr>
            <a:r>
              <a:rPr lang="en-US" sz="2700" dirty="0"/>
              <a:t>➡️ Strong foundation for final dissertation</a:t>
            </a:r>
          </a:p>
        </p:txBody>
      </p:sp>
    </p:spTree>
    <p:extLst>
      <p:ext uri="{BB962C8B-B14F-4D97-AF65-F5344CB8AC3E}">
        <p14:creationId xmlns:p14="http://schemas.microsoft.com/office/powerpoint/2010/main" val="887751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DB15B-DCD7-C948-04F9-E94F6B280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E8410-B124-F720-5FFD-F46FCB4DE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kumimoji="0" lang="en-IN" sz="3500" b="0" i="0" u="none" strike="noStrike" kern="1200" cap="none" spc="0" normalizeH="0" baseline="0" noProof="0" dirty="0">
                <a:ln>
                  <a:noFill/>
                </a:ln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Thank You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F0E3F-D44F-3D8D-DFDA-5D5CE0593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IN" dirty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7330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3282</TotalTime>
  <Words>640</Words>
  <Application>Microsoft Office PowerPoint</Application>
  <PresentationFormat>On-screen Show (4:3)</PresentationFormat>
  <Paragraphs>161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Gill Sans MT</vt:lpstr>
      <vt:lpstr>Verdana</vt:lpstr>
      <vt:lpstr>Wingdings 2</vt:lpstr>
      <vt:lpstr>Solstice</vt:lpstr>
      <vt:lpstr>Intelligent Data Quality Monitoring using Machine Learning for Regulatory Reporting Systems</vt:lpstr>
      <vt:lpstr>Problem Statement</vt:lpstr>
      <vt:lpstr>Objectives</vt:lpstr>
      <vt:lpstr>Overall Solution Approach</vt:lpstr>
      <vt:lpstr>System Architecture / Pipeline</vt:lpstr>
      <vt:lpstr>Solution Architecture</vt:lpstr>
      <vt:lpstr>Rule Based Data Quality Engine</vt:lpstr>
      <vt:lpstr>Machine Learning Models Considered</vt:lpstr>
      <vt:lpstr>Model Comparison Results</vt:lpstr>
      <vt:lpstr>Why Isolation Forest + Autoencoder?</vt:lpstr>
      <vt:lpstr>Unified Anomaly Scoring Logic</vt:lpstr>
      <vt:lpstr>Explainability in the Project</vt:lpstr>
      <vt:lpstr>Regulatory Thresholds</vt:lpstr>
      <vt:lpstr>Dashboard Overview</vt:lpstr>
      <vt:lpstr>PowerPoint Presentation</vt:lpstr>
      <vt:lpstr>Dashboard Drilldown</vt:lpstr>
      <vt:lpstr>PowerPoint Presentation</vt:lpstr>
      <vt:lpstr>Work Completed Till Mid-Sem</vt:lpstr>
      <vt:lpstr>Challenges Faced</vt:lpstr>
      <vt:lpstr>Roadmap for Final Submission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Data Quality Monitoring using Machine Learning for Regulatory Reporting Systems</dc:title>
  <dc:subject/>
  <dc:creator>shaur</dc:creator>
  <cp:keywords/>
  <dc:description>generated using python-pptx</dc:description>
  <cp:lastModifiedBy>RATNALA NAGA SHAURYA</cp:lastModifiedBy>
  <cp:revision>18</cp:revision>
  <dcterms:created xsi:type="dcterms:W3CDTF">2013-01-27T09:14:16Z</dcterms:created>
  <dcterms:modified xsi:type="dcterms:W3CDTF">2025-12-29T05:05:36Z</dcterms:modified>
  <cp:category/>
</cp:coreProperties>
</file>