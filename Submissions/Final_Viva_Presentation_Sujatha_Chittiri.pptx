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80" r:id="rId10"/>
    <p:sldId id="263" r:id="rId11"/>
    <p:sldId id="270" r:id="rId12"/>
    <p:sldId id="286" r:id="rId13"/>
    <p:sldId id="265" r:id="rId14"/>
    <p:sldId id="266" r:id="rId15"/>
    <p:sldId id="281" r:id="rId16"/>
    <p:sldId id="282" r:id="rId17"/>
    <p:sldId id="283" r:id="rId18"/>
    <p:sldId id="271" r:id="rId19"/>
    <p:sldId id="284" r:id="rId20"/>
    <p:sldId id="285" r:id="rId21"/>
    <p:sldId id="274" r:id="rId22"/>
    <p:sldId id="288" r:id="rId23"/>
    <p:sldId id="287" r:id="rId24"/>
    <p:sldId id="275" r:id="rId25"/>
    <p:sldId id="276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577625"/>
            <a:ext cx="7406640" cy="1752600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dirty="0"/>
              <a:t>Intelligent Data Quality Monitoring using</a:t>
            </a:r>
          </a:p>
          <a:p>
            <a:r>
              <a:rPr dirty="0"/>
              <a:t>Machine Learning for Regulatory Reporting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974529"/>
            <a:ext cx="7406640" cy="175260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Sujatha Chittiri | BITS ID: 2023AC05729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M.Tech AI &amp; ML (WILP)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HSBC Global Technologies, Hyderabad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Research Area: Financial Risk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IN" b="1" dirty="0"/>
              <a:t>Why this project?</a:t>
            </a:r>
            <a:endParaRPr lang="en-US" b="1" dirty="0"/>
          </a:p>
          <a:p>
            <a:r>
              <a:rPr lang="en-US" dirty="0"/>
              <a:t>Regulatory reports are generated from </a:t>
            </a:r>
            <a:r>
              <a:rPr lang="en-US" b="1" dirty="0"/>
              <a:t>multiple upstream systems</a:t>
            </a:r>
            <a:endParaRPr lang="en-US" dirty="0"/>
          </a:p>
          <a:p>
            <a:r>
              <a:rPr lang="en-US" dirty="0"/>
              <a:t>Data quality issues cause:</a:t>
            </a:r>
          </a:p>
          <a:p>
            <a:pPr lvl="1"/>
            <a:r>
              <a:rPr lang="en-US" dirty="0"/>
              <a:t>Regulatory breaches</a:t>
            </a:r>
          </a:p>
          <a:p>
            <a:pPr lvl="1"/>
            <a:r>
              <a:rPr lang="en-US" dirty="0"/>
              <a:t>Reporting delays</a:t>
            </a:r>
          </a:p>
          <a:p>
            <a:pPr lvl="1"/>
            <a:r>
              <a:rPr lang="en-US" dirty="0"/>
              <a:t>Supervisory observations</a:t>
            </a:r>
          </a:p>
          <a:p>
            <a:r>
              <a:rPr lang="en-US" dirty="0"/>
              <a:t>Traditional </a:t>
            </a:r>
            <a:r>
              <a:rPr lang="en-US" b="1" dirty="0"/>
              <a:t>rule-based checks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Catch known issues</a:t>
            </a:r>
          </a:p>
          <a:p>
            <a:pPr lvl="1"/>
            <a:r>
              <a:rPr lang="en-US" dirty="0"/>
              <a:t>Fail to detect hidden or evolving anomalies</a:t>
            </a:r>
          </a:p>
          <a:p>
            <a:pPr marL="82296" indent="0">
              <a:buNone/>
            </a:pPr>
            <a:r>
              <a:rPr lang="en-US" dirty="0"/>
              <a:t>➡️ </a:t>
            </a:r>
            <a:r>
              <a:rPr lang="en-US" b="1" dirty="0"/>
              <a:t>Need:</a:t>
            </a:r>
            <a:r>
              <a:rPr lang="en-US" dirty="0"/>
              <a:t> An intelligent, proactive data quality monitoring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b="1" dirty="0"/>
              <a:t>Key Objectives of the Dissertation</a:t>
            </a:r>
            <a:endParaRPr lang="en-US" dirty="0"/>
          </a:p>
          <a:p>
            <a:r>
              <a:rPr lang="en-US" dirty="0"/>
              <a:t>Design an intelligent data quality monitoring framework</a:t>
            </a:r>
          </a:p>
          <a:p>
            <a:r>
              <a:rPr lang="en-US" dirty="0"/>
              <a:t>Combine:</a:t>
            </a:r>
          </a:p>
          <a:p>
            <a:pPr lvl="1"/>
            <a:r>
              <a:rPr lang="en-US" dirty="0"/>
              <a:t>Rule-based validations</a:t>
            </a:r>
          </a:p>
          <a:p>
            <a:pPr lvl="1"/>
            <a:r>
              <a:rPr lang="en-US" dirty="0"/>
              <a:t>Machine learning–based anomaly detection</a:t>
            </a:r>
          </a:p>
          <a:p>
            <a:r>
              <a:rPr lang="en-US" dirty="0"/>
              <a:t>Ensure:</a:t>
            </a:r>
          </a:p>
          <a:p>
            <a:pPr lvl="1"/>
            <a:r>
              <a:rPr lang="en-US" dirty="0"/>
              <a:t>Explainability</a:t>
            </a:r>
          </a:p>
          <a:p>
            <a:pPr lvl="1"/>
            <a:r>
              <a:rPr lang="en-US" dirty="0"/>
              <a:t>Regulatory defensibility</a:t>
            </a:r>
          </a:p>
          <a:p>
            <a:r>
              <a:rPr lang="en-US" dirty="0"/>
              <a:t>Provide operational visibility through a dashboard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lang="en-IN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Overall Solution Approach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High-Level Approach</a:t>
            </a:r>
            <a:endParaRPr lang="en-IN" sz="2700" dirty="0"/>
          </a:p>
          <a:p>
            <a:r>
              <a:rPr lang="en-IN" sz="2700" dirty="0"/>
              <a:t>Deterministic rules handle </a:t>
            </a:r>
            <a:r>
              <a:rPr lang="en-IN" sz="2700" b="1" dirty="0"/>
              <a:t>explicit violations</a:t>
            </a:r>
            <a:endParaRPr lang="en-IN" sz="2700" dirty="0"/>
          </a:p>
          <a:p>
            <a:r>
              <a:rPr lang="en-IN" sz="2700" dirty="0"/>
              <a:t>ML models detect </a:t>
            </a:r>
            <a:r>
              <a:rPr lang="en-IN" sz="2700" b="1" dirty="0"/>
              <a:t>hidden anomalies</a:t>
            </a:r>
            <a:endParaRPr lang="en-IN" sz="2700" dirty="0"/>
          </a:p>
          <a:p>
            <a:r>
              <a:rPr lang="en-IN" sz="2700" dirty="0"/>
              <a:t>Outputs are combined into a </a:t>
            </a:r>
            <a:r>
              <a:rPr lang="en-IN" sz="2700" b="1" dirty="0"/>
              <a:t>unified anomaly decision</a:t>
            </a:r>
            <a:endParaRPr lang="en-IN" sz="2700" dirty="0"/>
          </a:p>
          <a:p>
            <a:r>
              <a:rPr lang="en-IN" sz="2700" dirty="0"/>
              <a:t>Results are visualized for monitoring and investigation</a:t>
            </a:r>
          </a:p>
          <a:p>
            <a:pPr marL="82296" indent="0">
              <a:buNone/>
            </a:pPr>
            <a:r>
              <a:rPr lang="en-IN" sz="2700" dirty="0"/>
              <a:t>➡️ Hybrid = </a:t>
            </a:r>
            <a:r>
              <a:rPr lang="en-IN" sz="2700" b="1" dirty="0"/>
              <a:t>Accuracy + Explainability</a:t>
            </a:r>
            <a:endParaRPr lang="en-IN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/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Pipeline Flow:</a:t>
            </a:r>
            <a:endParaRPr lang="en-US" sz="2700" b="1" dirty="0"/>
          </a:p>
          <a:p>
            <a:r>
              <a:rPr lang="en-US" sz="2700" dirty="0"/>
              <a:t>Regulatory-style data ingestion</a:t>
            </a:r>
          </a:p>
          <a:p>
            <a:r>
              <a:rPr lang="en-US" sz="2700" dirty="0"/>
              <a:t>Rule-based data quality engine</a:t>
            </a:r>
          </a:p>
          <a:p>
            <a:r>
              <a:rPr lang="en-US" sz="2700" dirty="0"/>
              <a:t>ML anomaly detection (unsupervised)</a:t>
            </a:r>
          </a:p>
          <a:p>
            <a:r>
              <a:rPr lang="en-US" sz="2700" dirty="0"/>
              <a:t>Unified anomaly scoring</a:t>
            </a:r>
          </a:p>
          <a:p>
            <a:r>
              <a:rPr lang="en-US" sz="2700" dirty="0"/>
              <a:t>Model Evaluation</a:t>
            </a:r>
          </a:p>
          <a:p>
            <a:r>
              <a:rPr lang="en-US" sz="2700" dirty="0"/>
              <a:t>SHAP Explainability – IF and AE</a:t>
            </a:r>
          </a:p>
          <a:p>
            <a:r>
              <a:rPr lang="en-US" sz="2700" dirty="0"/>
              <a:t>Dashboard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Solution Architecture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F5846-36C2-A8CC-A879-EBD174B8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52" y="1590660"/>
            <a:ext cx="3261815" cy="50362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Dataset &amp; Feature Selection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synthetic dataset is modeled on the structure of HSBC regulatory reporting data.</a:t>
            </a:r>
          </a:p>
          <a:p>
            <a:r>
              <a:rPr lang="en-US" dirty="0"/>
              <a:t>The original HSBC dataset contains 60+ fields.</a:t>
            </a:r>
            <a:br>
              <a:rPr lang="en-US" dirty="0"/>
            </a:br>
            <a:r>
              <a:rPr lang="en-US" dirty="0"/>
              <a:t>From these, 16 features were selected based on:</a:t>
            </a:r>
          </a:p>
          <a:p>
            <a:pPr lvl="1"/>
            <a:r>
              <a:rPr lang="en-US" dirty="0"/>
              <a:t>Regulatory importance</a:t>
            </a:r>
          </a:p>
          <a:p>
            <a:pPr lvl="1"/>
            <a:r>
              <a:rPr lang="en-US" dirty="0"/>
              <a:t>Risk and capital impact</a:t>
            </a:r>
          </a:p>
          <a:p>
            <a:pPr lvl="1"/>
            <a:r>
              <a:rPr lang="en-US" dirty="0"/>
              <a:t>Data quality sensitivity	</a:t>
            </a:r>
          </a:p>
          <a:p>
            <a:pPr lvl="1"/>
            <a:r>
              <a:rPr lang="en-US" dirty="0"/>
              <a:t>Suitability for multivariate anomaly detection</a:t>
            </a:r>
          </a:p>
          <a:p>
            <a:r>
              <a:rPr lang="en-US" dirty="0"/>
              <a:t>Examples: Exposure Amount, Risk Weight, RWA, Capital Requirement, Country, Counterparty Type, Maturity, Collateral Flag.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Regulatory Thresholds</a:t>
            </a:r>
            <a:endParaRPr dirty="0">
              <a:solidFill>
                <a:srgbClr val="4F271C">
                  <a:satMod val="130000"/>
                </a:srgbClr>
              </a:solidFill>
              <a:latin typeface="Gill Sans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IN" b="1" dirty="0"/>
              <a:t>How thresholds are defined</a:t>
            </a:r>
            <a:endParaRPr lang="en-IN" dirty="0"/>
          </a:p>
          <a:p>
            <a:r>
              <a:rPr lang="en-IN" dirty="0"/>
              <a:t>Regulators (PRA / ECB / EBA) do </a:t>
            </a:r>
            <a:r>
              <a:rPr lang="en-IN" b="1" dirty="0"/>
              <a:t>not prescribe fixed percentages</a:t>
            </a:r>
            <a:endParaRPr lang="en-IN" dirty="0"/>
          </a:p>
          <a:p>
            <a:r>
              <a:rPr lang="en-IN" dirty="0"/>
              <a:t>Institutions define internal thresholds aligned with:</a:t>
            </a:r>
          </a:p>
          <a:p>
            <a:pPr lvl="1"/>
            <a:r>
              <a:rPr lang="en-IN" dirty="0"/>
              <a:t>Risk appetite</a:t>
            </a:r>
          </a:p>
          <a:p>
            <a:pPr lvl="1"/>
            <a:r>
              <a:rPr lang="en-IN" dirty="0"/>
              <a:t>Materiality</a:t>
            </a:r>
          </a:p>
          <a:p>
            <a:pPr marL="82296" indent="0">
              <a:buNone/>
            </a:pPr>
            <a:r>
              <a:rPr lang="en-IN" b="1" dirty="0"/>
              <a:t>Proxy thresholds used</a:t>
            </a:r>
            <a:endParaRPr lang="en-IN" dirty="0"/>
          </a:p>
          <a:p>
            <a:r>
              <a:rPr lang="en-IN" dirty="0"/>
              <a:t>Completeness issues: &lt; 1–2%</a:t>
            </a:r>
          </a:p>
          <a:p>
            <a:r>
              <a:rPr lang="en-IN" dirty="0"/>
              <a:t>Invalid reference data: &lt; 0.5%</a:t>
            </a:r>
          </a:p>
          <a:p>
            <a:r>
              <a:rPr lang="en-IN" dirty="0"/>
              <a:t>Duplicates: 0% tolerance</a:t>
            </a:r>
          </a:p>
          <a:p>
            <a:r>
              <a:rPr lang="en-IN" dirty="0"/>
              <a:t>Overall anomaly rate: &lt; 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FBA0-6854-2CD8-FC6C-51CFB3E8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88E1-01C1-DB02-CBB0-201F4EDBB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Rule Based Data Quality Engine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F1D7-B266-44C5-5BDB-6C359742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Implemented checks:</a:t>
            </a:r>
          </a:p>
          <a:p>
            <a:r>
              <a:rPr lang="en-IN" sz="2700" dirty="0"/>
              <a:t>Completeness validation</a:t>
            </a:r>
          </a:p>
          <a:p>
            <a:r>
              <a:rPr lang="en-IN" sz="2700" dirty="0"/>
              <a:t>Valid code lists (country, currency)</a:t>
            </a:r>
          </a:p>
          <a:p>
            <a:r>
              <a:rPr lang="en-IN" sz="2700" dirty="0"/>
              <a:t>Duplicate key detection</a:t>
            </a:r>
          </a:p>
          <a:p>
            <a:r>
              <a:rPr lang="en-IN" sz="2700" dirty="0"/>
              <a:t>Capital calculation validation</a:t>
            </a:r>
          </a:p>
          <a:p>
            <a:r>
              <a:rPr lang="en-IN" sz="2700" dirty="0"/>
              <a:t>Outlier exposure checks</a:t>
            </a:r>
          </a:p>
          <a:p>
            <a:pPr marL="82296" indent="0">
              <a:buNone/>
            </a:pPr>
            <a:r>
              <a:rPr lang="en-IN" sz="2700" dirty="0"/>
              <a:t>Thresholds inspired by PRA, EBA, ECB data quality guidelines.</a:t>
            </a:r>
          </a:p>
          <a:p>
            <a:r>
              <a:rPr lang="en-IN" sz="2700" dirty="0"/>
              <a:t>Output: </a:t>
            </a:r>
            <a:r>
              <a:rPr lang="en-IN" sz="2700" b="1" dirty="0"/>
              <a:t>RULE_ANOMALY_FLAG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73770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531" y="274638"/>
            <a:ext cx="7753157" cy="1143000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Unsupervised ML Models Used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99F7B95-3A0E-F615-2FB1-F7DEEE6CB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272821"/>
              </p:ext>
            </p:extLst>
          </p:nvPr>
        </p:nvGraphicFramePr>
        <p:xfrm>
          <a:off x="1307434" y="1583936"/>
          <a:ext cx="7499350" cy="2682240"/>
        </p:xfrm>
        <a:graphic>
          <a:graphicData uri="http://schemas.openxmlformats.org/drawingml/2006/table">
            <a:tbl>
              <a:tblPr/>
              <a:tblGrid>
                <a:gridCol w="3749675">
                  <a:extLst>
                    <a:ext uri="{9D8B030D-6E8A-4147-A177-3AD203B41FA5}">
                      <a16:colId xmlns:a16="http://schemas.microsoft.com/office/drawing/2014/main" val="265512539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782161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572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Isolation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Detect sparse abnormal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43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Detect local density deviations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95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OCSVM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Boundary-based anomaly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962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Reconstruction error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16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Autoencoder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Deep pattern reconstruction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4320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664FEA1-0A4E-3E2C-BBC5-DDD825E082DC}"/>
              </a:ext>
            </a:extLst>
          </p:cNvPr>
          <p:cNvSpPr txBox="1"/>
          <p:nvPr/>
        </p:nvSpPr>
        <p:spPr>
          <a:xfrm>
            <a:off x="1307434" y="4634385"/>
            <a:ext cx="7017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Multiple models are used to capture different types of anomalies.</a:t>
            </a:r>
            <a:endParaRPr lang="en-I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F98E-C3D2-0E73-8F90-14124BB5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B369-EB14-F812-16BA-2FF5CAC2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Model Comparison Results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5AEBF-7D73-045B-9DEC-7E6411970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000" b="1" dirty="0"/>
              <a:t>Evaluation Metrics</a:t>
            </a:r>
            <a:endParaRPr lang="en-IN" sz="2000" dirty="0"/>
          </a:p>
          <a:p>
            <a:r>
              <a:rPr lang="en-IN" sz="2000" dirty="0"/>
              <a:t>ROC-AUC</a:t>
            </a:r>
          </a:p>
          <a:p>
            <a:r>
              <a:rPr lang="en-IN" sz="2000" dirty="0"/>
              <a:t>Precision@5%</a:t>
            </a:r>
          </a:p>
          <a:p>
            <a:pPr marL="82296" indent="0">
              <a:buNone/>
            </a:pPr>
            <a:r>
              <a:rPr lang="en-IN" sz="2000" b="1" dirty="0"/>
              <a:t>Key Observations</a:t>
            </a:r>
            <a:endParaRPr lang="en-IN" sz="2000" dirty="0"/>
          </a:p>
          <a:p>
            <a:r>
              <a:rPr lang="en-US" sz="2000" dirty="0"/>
              <a:t>Ensemble model performs better than individual models.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755FC2-7975-839C-6CF3-FBAF4A529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819330"/>
              </p:ext>
            </p:extLst>
          </p:nvPr>
        </p:nvGraphicFramePr>
        <p:xfrm>
          <a:off x="2059402" y="3903897"/>
          <a:ext cx="4935076" cy="2039702"/>
        </p:xfrm>
        <a:graphic>
          <a:graphicData uri="http://schemas.openxmlformats.org/drawingml/2006/table">
            <a:tbl>
              <a:tblPr/>
              <a:tblGrid>
                <a:gridCol w="1529959">
                  <a:extLst>
                    <a:ext uri="{9D8B030D-6E8A-4147-A177-3AD203B41FA5}">
                      <a16:colId xmlns:a16="http://schemas.microsoft.com/office/drawing/2014/main" val="1673491452"/>
                    </a:ext>
                  </a:extLst>
                </a:gridCol>
                <a:gridCol w="1630908">
                  <a:extLst>
                    <a:ext uri="{9D8B030D-6E8A-4147-A177-3AD203B41FA5}">
                      <a16:colId xmlns:a16="http://schemas.microsoft.com/office/drawing/2014/main" val="2692649487"/>
                    </a:ext>
                  </a:extLst>
                </a:gridCol>
                <a:gridCol w="1774209">
                  <a:extLst>
                    <a:ext uri="{9D8B030D-6E8A-4147-A177-3AD203B41FA5}">
                      <a16:colId xmlns:a16="http://schemas.microsoft.com/office/drawing/2014/main" val="3175657188"/>
                    </a:ext>
                  </a:extLst>
                </a:gridCol>
              </a:tblGrid>
              <a:tr h="291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ROC_AUC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Precision@5%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4090"/>
                  </a:ext>
                </a:extLst>
              </a:tr>
              <a:tr h="291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 Forest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0.595767634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0.339912281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503549"/>
                  </a:ext>
                </a:extLst>
              </a:tr>
              <a:tr h="291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LOF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0.586153467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0.614035088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372955"/>
                  </a:ext>
                </a:extLst>
              </a:tr>
              <a:tr h="291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OCSVM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0.604966764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0.48245614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105122"/>
                  </a:ext>
                </a:extLst>
              </a:tr>
              <a:tr h="291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PCA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0.574870861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0.561403509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142873"/>
                  </a:ext>
                </a:extLst>
              </a:tr>
              <a:tr h="291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Autoencoder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0.57384073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0.353070175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847985"/>
                  </a:ext>
                </a:extLst>
              </a:tr>
              <a:tr h="291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Ensemble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0.609705366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0.396929825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526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08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656F-6735-7EB6-8955-F16DC534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099-27ED-B1E2-4D38-70BE73BA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Evaluation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13F9-0E5E-0DE6-82EE-EF17F1D26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410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Rule-based ROC 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ML-based ROC 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Hybrid ROC AUC (highest)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9E1515-AFDE-5F38-2C29-61A717A78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685327"/>
              </p:ext>
            </p:extLst>
          </p:nvPr>
        </p:nvGraphicFramePr>
        <p:xfrm>
          <a:off x="1838230" y="2681358"/>
          <a:ext cx="4207729" cy="1495284"/>
        </p:xfrm>
        <a:graphic>
          <a:graphicData uri="http://schemas.openxmlformats.org/drawingml/2006/table">
            <a:tbl>
              <a:tblPr/>
              <a:tblGrid>
                <a:gridCol w="2534776">
                  <a:extLst>
                    <a:ext uri="{9D8B030D-6E8A-4147-A177-3AD203B41FA5}">
                      <a16:colId xmlns:a16="http://schemas.microsoft.com/office/drawing/2014/main" val="2207806815"/>
                    </a:ext>
                  </a:extLst>
                </a:gridCol>
                <a:gridCol w="1672953">
                  <a:extLst>
                    <a:ext uri="{9D8B030D-6E8A-4147-A177-3AD203B41FA5}">
                      <a16:colId xmlns:a16="http://schemas.microsoft.com/office/drawing/2014/main" val="1847752885"/>
                    </a:ext>
                  </a:extLst>
                </a:gridCol>
              </a:tblGrid>
              <a:tr h="3738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System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ROC_AUC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12822"/>
                  </a:ext>
                </a:extLst>
              </a:tr>
              <a:tr h="3738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Rule-Based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0.951636728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125487"/>
                  </a:ext>
                </a:extLst>
              </a:tr>
              <a:tr h="3738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ML-Based (Ensemble)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0.633438738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28285"/>
                  </a:ext>
                </a:extLst>
              </a:tr>
              <a:tr h="3738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Hybrid (Rule + ML)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0.960873662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9472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C01111-0C2B-F6A6-B7C3-95DC38929A30}"/>
              </a:ext>
            </a:extLst>
          </p:cNvPr>
          <p:cNvSpPr txBox="1"/>
          <p:nvPr/>
        </p:nvSpPr>
        <p:spPr>
          <a:xfrm>
            <a:off x="1838230" y="4856795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=== OVERLAP ANALYSIS ===</a:t>
            </a:r>
          </a:p>
          <a:p>
            <a:r>
              <a:rPr lang="en-IN" sz="1600" dirty="0"/>
              <a:t>Total rows: 8480</a:t>
            </a:r>
          </a:p>
          <a:p>
            <a:r>
              <a:rPr lang="en-IN" sz="1600" dirty="0"/>
              <a:t>True anomalies: 1247</a:t>
            </a:r>
          </a:p>
          <a:p>
            <a:r>
              <a:rPr lang="en-IN" sz="1600" dirty="0"/>
              <a:t>Rule-only anomalies: 1355</a:t>
            </a:r>
          </a:p>
          <a:p>
            <a:r>
              <a:rPr lang="en-IN" sz="1600" dirty="0"/>
              <a:t>ML-only anomalies: 322</a:t>
            </a:r>
          </a:p>
          <a:p>
            <a:r>
              <a:rPr lang="en-IN" sz="1600" dirty="0"/>
              <a:t>Detected by both: 102</a:t>
            </a:r>
          </a:p>
          <a:p>
            <a:r>
              <a:rPr lang="en-IN" sz="1600" dirty="0"/>
              <a:t>Final anomalies: 1779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73E23-670C-F5CD-7F5A-B310E831C1AB}"/>
              </a:ext>
            </a:extLst>
          </p:cNvPr>
          <p:cNvSpPr txBox="1"/>
          <p:nvPr/>
        </p:nvSpPr>
        <p:spPr>
          <a:xfrm>
            <a:off x="1326426" y="4457301"/>
            <a:ext cx="6109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Overlap analysis shows significant ML-only detection.</a:t>
            </a:r>
          </a:p>
        </p:txBody>
      </p:sp>
    </p:spTree>
    <p:extLst>
      <p:ext uri="{BB962C8B-B14F-4D97-AF65-F5344CB8AC3E}">
        <p14:creationId xmlns:p14="http://schemas.microsoft.com/office/powerpoint/2010/main" val="3077968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Hybrid Decision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827" y="1447800"/>
            <a:ext cx="7725861" cy="5082654"/>
          </a:xfrm>
        </p:spPr>
        <p:txBody>
          <a:bodyPr>
            <a:noAutofit/>
          </a:bodyPr>
          <a:lstStyle/>
          <a:p>
            <a:r>
              <a:rPr lang="en-IN" sz="2700" dirty="0"/>
              <a:t>Final anomaly decision:</a:t>
            </a:r>
          </a:p>
          <a:p>
            <a:r>
              <a:rPr lang="en-IN" sz="2700" dirty="0"/>
              <a:t>Rule Flag + ML Flag → FINAL_ANOMALY_FLAG</a:t>
            </a:r>
          </a:p>
          <a:p>
            <a:r>
              <a:rPr lang="en-IN" sz="2700" dirty="0"/>
              <a:t>This helps detect:</a:t>
            </a:r>
          </a:p>
          <a:p>
            <a:pPr lvl="1"/>
            <a:r>
              <a:rPr lang="en-IN" sz="2400" dirty="0"/>
              <a:t>Rule-only anomalies</a:t>
            </a:r>
          </a:p>
          <a:p>
            <a:pPr lvl="1"/>
            <a:r>
              <a:rPr lang="en-IN" sz="2400" dirty="0"/>
              <a:t>ML-only anomalies</a:t>
            </a:r>
          </a:p>
          <a:p>
            <a:pPr lvl="1"/>
            <a:r>
              <a:rPr lang="en-IN" sz="2400" dirty="0"/>
              <a:t>Overlapping anomalies</a:t>
            </a:r>
          </a:p>
          <a:p>
            <a:r>
              <a:rPr lang="en-IN" sz="2700" dirty="0"/>
              <a:t>ML-only anomalies demonstrate the additional value of AI/ML beyond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Explainable AI (SHAP)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SHAP is used to interpret model predictions.</a:t>
            </a:r>
          </a:p>
          <a:p>
            <a:r>
              <a:rPr lang="en-US" sz="2700" dirty="0"/>
              <a:t>It shows which features contribute most to anomaly detection such as:</a:t>
            </a:r>
          </a:p>
          <a:p>
            <a:pPr lvl="1"/>
            <a:r>
              <a:rPr lang="en-US" sz="2500" dirty="0"/>
              <a:t>Exposure to Capital Ratio</a:t>
            </a:r>
          </a:p>
          <a:p>
            <a:pPr lvl="1"/>
            <a:r>
              <a:rPr lang="en-US" sz="2500" dirty="0"/>
              <a:t>Risk Weight</a:t>
            </a:r>
          </a:p>
          <a:p>
            <a:pPr lvl="1"/>
            <a:r>
              <a:rPr lang="en-US" sz="2500" dirty="0"/>
              <a:t>Credit Quality Step</a:t>
            </a:r>
          </a:p>
          <a:p>
            <a:pPr lvl="1"/>
            <a:r>
              <a:rPr lang="en-US" sz="2500" dirty="0"/>
              <a:t>Exposure Amount</a:t>
            </a:r>
          </a:p>
          <a:p>
            <a:r>
              <a:rPr lang="en-US" sz="2700" dirty="0"/>
              <a:t>This supports regulatory auditability.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460F-94B9-61C2-30FE-BD1F1619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818F-1DDD-BA39-9BC1-706C1E9B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74637"/>
            <a:ext cx="7498080" cy="85130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Dashboard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AEE3C-38DE-C91A-9A5D-ADED08C53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2944349"/>
            <a:ext cx="7498080" cy="3845411"/>
          </a:xfrm>
        </p:spPr>
        <p:txBody>
          <a:bodyPr>
            <a:normAutofit/>
          </a:bodyPr>
          <a:lstStyle/>
          <a:p>
            <a:endParaRPr lang="en-US" sz="2700" dirty="0"/>
          </a:p>
          <a:p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530AA-65D3-2A71-956E-0B087E45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26" y="3072447"/>
            <a:ext cx="6748818" cy="1160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AB5D75-D057-C481-9BD3-AEE057A5A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22" y="4441016"/>
            <a:ext cx="6748818" cy="21423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98318A-E006-5CE4-9B5D-3E1F0E5A6766}"/>
              </a:ext>
            </a:extLst>
          </p:cNvPr>
          <p:cNvSpPr txBox="1"/>
          <p:nvPr/>
        </p:nvSpPr>
        <p:spPr>
          <a:xfrm>
            <a:off x="1360543" y="1270560"/>
            <a:ext cx="672002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/>
              <a:t>Dashboard displays:</a:t>
            </a:r>
          </a:p>
          <a:p>
            <a:pPr lvl="1"/>
            <a:r>
              <a:rPr lang="en-US" sz="2700" dirty="0"/>
              <a:t>KPI summary</a:t>
            </a:r>
          </a:p>
          <a:p>
            <a:pPr lvl="1"/>
            <a:r>
              <a:rPr lang="en-US" sz="2700" dirty="0"/>
              <a:t>Rule vs ML anomaly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62014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55F2-A753-F478-B8B8-90198121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5598-4992-EC89-6F24-F97A6149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170597"/>
            <a:ext cx="7498080" cy="859809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Investigation 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A07CB-14B0-631E-7B4A-5E7CF634A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968991"/>
            <a:ext cx="7498080" cy="5279409"/>
          </a:xfrm>
        </p:spPr>
        <p:txBody>
          <a:bodyPr>
            <a:normAutofit/>
          </a:bodyPr>
          <a:lstStyle/>
          <a:p>
            <a:r>
              <a:rPr lang="en-US" sz="2800" dirty="0"/>
              <a:t>Top high-risk records sorted by ML ensemble score.</a:t>
            </a:r>
            <a:endParaRPr lang="en-US" sz="2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609E68-02BE-AF2D-ADA8-DD374242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69" y="2127903"/>
            <a:ext cx="6996830" cy="274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10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90E6-782E-E937-EF11-34C32E3A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78DE-7D02-F3A6-73F2-A5901D52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74637"/>
            <a:ext cx="7498080" cy="796711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Investigation 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9F1C-8048-A40A-3FD7-836C609F7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968991"/>
            <a:ext cx="7498080" cy="5279409"/>
          </a:xfrm>
        </p:spPr>
        <p:txBody>
          <a:bodyPr>
            <a:normAutofit/>
          </a:bodyPr>
          <a:lstStyle/>
          <a:p>
            <a:r>
              <a:rPr lang="en-US" sz="2800" dirty="0"/>
              <a:t>Filters available for flag source and risk bucket.</a:t>
            </a:r>
            <a:endParaRPr lang="en-US" sz="2700" dirty="0"/>
          </a:p>
          <a:p>
            <a:endParaRPr 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D9636-5FFB-373C-EC20-CF7536753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70" y="2088292"/>
            <a:ext cx="6740356" cy="325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75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D87B-BAF3-2D88-44C9-0FF45D57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4E32-0D17-093F-FBB5-3B41A9D9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74637"/>
            <a:ext cx="7498080" cy="1281207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Explainability View in Dashboard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4F7DD-14C8-0CE5-BC38-2CF3C2C4A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Provides interpretation support for investigators while analyzing anomalies.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00935-5AC7-F0A6-350F-4AB58A18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44" y="3009332"/>
            <a:ext cx="6774408" cy="246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20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DBF6-DF5A-0533-9B02-CF4624CF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85EB-C28A-D5F0-BEBA-2C481952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651" y="274638"/>
            <a:ext cx="7929349" cy="1143000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Isolation Forest – Feature Importance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20BD1B-AB5F-26CB-6C8C-EA6B9E744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338" y="1566782"/>
            <a:ext cx="6134616" cy="2200990"/>
          </a:xfrm>
          <a:prstGeom prst="rect">
            <a:avLst/>
          </a:prstGeom>
        </p:spPr>
      </p:pic>
      <p:pic>
        <p:nvPicPr>
          <p:cNvPr id="4098" name="Picture 2" descr="0">
            <a:extLst>
              <a:ext uri="{FF2B5EF4-FFF2-40B4-BE49-F238E27FC236}">
                <a16:creationId xmlns:a16="http://schemas.microsoft.com/office/drawing/2014/main" id="{6ED073CF-D3BE-4A62-021F-CB6D7C29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608" y="3828741"/>
            <a:ext cx="6133346" cy="2754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98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78EF-D333-DDCD-947A-E9473172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90EA-AD31-F65D-2CDC-A68068C5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Autoencoder (Surrogate Model) -Feature Importance</a:t>
            </a:r>
            <a:endParaRPr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3C0BD8-0507-F0BE-36B1-C86C2398B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931" y="1689950"/>
            <a:ext cx="6877379" cy="2157252"/>
          </a:xfrm>
          <a:prstGeom prst="rect">
            <a:avLst/>
          </a:prstGeom>
        </p:spPr>
      </p:pic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CE898818-D86B-E5B7-2172-DAB7450C8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522" y="3933227"/>
            <a:ext cx="6822788" cy="277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46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7D7B-CBC2-3933-B37A-3B78D0F5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AED0-AE0A-8720-E783-64FFF2F8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400" b="0" i="0" u="none" strike="noStrike" kern="1200" cap="none" spc="0" normalizeH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Mapping to HSBC Project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DF43-BA4B-06ED-5EF3-FE63F6F7D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3562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/>
              <a:t>The solution directly aligns with: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Data quality challenges in HSBC regulatory reporting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Regulatory expectations for accuracy and auditability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Potential integration into existing reporting workflow</a:t>
            </a:r>
          </a:p>
        </p:txBody>
      </p:sp>
    </p:spTree>
    <p:extLst>
      <p:ext uri="{BB962C8B-B14F-4D97-AF65-F5344CB8AC3E}">
        <p14:creationId xmlns:p14="http://schemas.microsoft.com/office/powerpoint/2010/main" val="3498572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7449-DDA9-1B2E-69EA-26A192EC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285B-71CD-D1A1-DED2-D9DA3F83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Key Contributions</a:t>
            </a:r>
            <a:endParaRPr sz="4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6D1F73-C92A-7A0E-A751-5FE78BFABA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5100" y="1558116"/>
            <a:ext cx="7302512" cy="3135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Intelligent data quality monitoring framework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Comparison of multiple unsupervised ML models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Hybrid rule + ML decision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SHAP explainability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Operational dashboard</a:t>
            </a:r>
          </a:p>
        </p:txBody>
      </p:sp>
    </p:spTree>
    <p:extLst>
      <p:ext uri="{BB962C8B-B14F-4D97-AF65-F5344CB8AC3E}">
        <p14:creationId xmlns:p14="http://schemas.microsoft.com/office/powerpoint/2010/main" val="240297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DE6B-38C1-2699-568B-6D7F2A48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E101-EEEC-7632-F938-E04068F0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Challenges Faced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A88D2-291D-884E-8D13-73C4A4786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Key Challenges</a:t>
            </a:r>
            <a:endParaRPr lang="en-IN" sz="2700" dirty="0"/>
          </a:p>
          <a:p>
            <a:r>
              <a:rPr lang="en-IN" sz="2700" dirty="0"/>
              <a:t>Defining realistic regulatory thresholds</a:t>
            </a:r>
          </a:p>
          <a:p>
            <a:r>
              <a:rPr lang="en-IN" sz="2700" dirty="0"/>
              <a:t>Lack of </a:t>
            </a:r>
            <a:r>
              <a:rPr lang="en-IN" sz="2700" dirty="0" err="1"/>
              <a:t>labeled</a:t>
            </a:r>
            <a:r>
              <a:rPr lang="en-IN" sz="2700" dirty="0"/>
              <a:t> anomaly data</a:t>
            </a:r>
          </a:p>
          <a:p>
            <a:r>
              <a:rPr lang="en-IN" sz="2700" dirty="0"/>
              <a:t>Balancing explainability vs accuracy</a:t>
            </a:r>
          </a:p>
          <a:p>
            <a:r>
              <a:rPr lang="en-IN" sz="2700" dirty="0"/>
              <a:t>Dashboard performance in cloud environments</a:t>
            </a:r>
          </a:p>
          <a:p>
            <a:pPr marL="82296" indent="0">
              <a:buNone/>
            </a:pPr>
            <a:r>
              <a:rPr lang="en-IN" sz="2700" b="1" dirty="0"/>
              <a:t>Mitigation</a:t>
            </a:r>
            <a:endParaRPr lang="en-IN" sz="2700" dirty="0"/>
          </a:p>
          <a:p>
            <a:r>
              <a:rPr lang="en-IN" sz="2700" dirty="0"/>
              <a:t>Configuration-driven thresholds</a:t>
            </a:r>
          </a:p>
          <a:p>
            <a:r>
              <a:rPr lang="en-IN" sz="2700" dirty="0"/>
              <a:t>Unsupervised learning</a:t>
            </a:r>
          </a:p>
          <a:p>
            <a:r>
              <a:rPr lang="en-IN" sz="2700" dirty="0"/>
              <a:t>Hybrid detection approach</a:t>
            </a:r>
          </a:p>
        </p:txBody>
      </p:sp>
    </p:spTree>
    <p:extLst>
      <p:ext uri="{BB962C8B-B14F-4D97-AF65-F5344CB8AC3E}">
        <p14:creationId xmlns:p14="http://schemas.microsoft.com/office/powerpoint/2010/main" val="23580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9B676-D3D3-93BB-B7F7-BF59067E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B117-AD69-7665-9827-1B640A85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Future Work</a:t>
            </a:r>
            <a:endParaRPr sz="4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A614EE-F21C-D56F-F654-4ED55ECB35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0199" y="1629884"/>
            <a:ext cx="5708101" cy="2512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Drift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tuning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feature inclusion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with live reporting systems</a:t>
            </a:r>
          </a:p>
        </p:txBody>
      </p:sp>
    </p:spTree>
    <p:extLst>
      <p:ext uri="{BB962C8B-B14F-4D97-AF65-F5344CB8AC3E}">
        <p14:creationId xmlns:p14="http://schemas.microsoft.com/office/powerpoint/2010/main" val="1178552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D5AC-0D4C-7E64-9CC4-6A030C4D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2A0-D11E-F351-BF85-7763DA79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Conclusion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79C8-49B4-955D-AD42-7A90F2751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lnSpc>
                <a:spcPct val="150000"/>
              </a:lnSpc>
              <a:buNone/>
            </a:pPr>
            <a:r>
              <a:rPr lang="en-US" sz="2800" dirty="0"/>
              <a:t>AI/ML significantly enhances data quality monitoring beyond traditional rule-based systems and is highly suitable for regulatory reporting environments.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887751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B15B-DCD7-C948-04F9-E94F6B28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8410-B124-F720-5FFD-F46FCB4D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Thank You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0E3F-D44F-3D8D-DFDA-5D5CE059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330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3359</TotalTime>
  <Words>797</Words>
  <Application>Microsoft Office PowerPoint</Application>
  <PresentationFormat>On-screen Show (4:3)</PresentationFormat>
  <Paragraphs>192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Gill Sans MT</vt:lpstr>
      <vt:lpstr>Verdana</vt:lpstr>
      <vt:lpstr>Wingdings 2</vt:lpstr>
      <vt:lpstr>Solstice</vt:lpstr>
      <vt:lpstr>Intelligent Data Quality Monitoring using Machine Learning for Regulatory Reporting Systems</vt:lpstr>
      <vt:lpstr>Problem Statement</vt:lpstr>
      <vt:lpstr>Objectives</vt:lpstr>
      <vt:lpstr>Overall Solution Approach</vt:lpstr>
      <vt:lpstr>System Architecture / Pipeline</vt:lpstr>
      <vt:lpstr>Solution Architecture</vt:lpstr>
      <vt:lpstr>Dataset &amp; Feature Selection</vt:lpstr>
      <vt:lpstr>Regulatory Thresholds</vt:lpstr>
      <vt:lpstr>Rule Based Data Quality Engine</vt:lpstr>
      <vt:lpstr>Unsupervised ML Models Used</vt:lpstr>
      <vt:lpstr>Model Comparison Results</vt:lpstr>
      <vt:lpstr>Evaluation Results</vt:lpstr>
      <vt:lpstr>Hybrid Decision Logic</vt:lpstr>
      <vt:lpstr>Explainable AI (SHAP)</vt:lpstr>
      <vt:lpstr>Dashboard Overview</vt:lpstr>
      <vt:lpstr>Investigation View</vt:lpstr>
      <vt:lpstr>Investigation View</vt:lpstr>
      <vt:lpstr>Explainability View in Dashboard</vt:lpstr>
      <vt:lpstr>Isolation Forest – Feature Importance</vt:lpstr>
      <vt:lpstr>Autoencoder (Surrogate Model) -Feature Importance</vt:lpstr>
      <vt:lpstr>Mapping to HSBC Project</vt:lpstr>
      <vt:lpstr>Key Contributions</vt:lpstr>
      <vt:lpstr>Challenges Faced</vt:lpstr>
      <vt:lpstr>Future Work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Data Quality Monitoring using Machine Learning for Regulatory Reporting Systems</dc:title>
  <dc:subject/>
  <dc:creator>shaur</dc:creator>
  <cp:keywords/>
  <dc:description>generated using python-pptx</dc:description>
  <cp:lastModifiedBy>RATNALA NAGA SHAURYA</cp:lastModifiedBy>
  <cp:revision>33</cp:revision>
  <dcterms:created xsi:type="dcterms:W3CDTF">2013-01-27T09:14:16Z</dcterms:created>
  <dcterms:modified xsi:type="dcterms:W3CDTF">2026-01-31T13:43:46Z</dcterms:modified>
  <cp:category/>
</cp:coreProperties>
</file>